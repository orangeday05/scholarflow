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9e8d11cd674871" /><Relationship Type="http://schemas.openxmlformats.org/officeDocument/2006/relationships/extended-properties" Target="/docProps/app.xml" Id="Rd13da66025e649df" /><Relationship Type="http://schemas.openxmlformats.org/officeDocument/2006/relationships/officeDocument" Target="/ppt/presentation.xml" Id="R03688c489bf74a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e7ae29adee4181"/>
  </p:sldMasterIdLst>
  <p:notesMasterIdLst>
    <p:notesMasterId xmlns:r="http://schemas.openxmlformats.org/officeDocument/2006/relationships" r:id="R17b524b590274a9b"/>
  </p:notesMasterIdLst>
  <p:sldIdLst>
    <p:sldId xmlns:r="http://schemas.openxmlformats.org/officeDocument/2006/relationships" id="256" r:id="R5a195635553248b6"/>
    <p:sldId xmlns:r="http://schemas.openxmlformats.org/officeDocument/2006/relationships" id="257" r:id="R544f6fe4a36d4cbb"/>
    <p:sldId xmlns:r="http://schemas.openxmlformats.org/officeDocument/2006/relationships" id="258" r:id="Recc7a218507f4c33"/>
    <p:sldId xmlns:r="http://schemas.openxmlformats.org/officeDocument/2006/relationships" id="259" r:id="Rfdbb82a4bdee4434"/>
    <p:sldId xmlns:r="http://schemas.openxmlformats.org/officeDocument/2006/relationships" id="260" r:id="R069f00a6d58143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ce59e849da4355" /><Relationship Type="http://schemas.openxmlformats.org/officeDocument/2006/relationships/slideMaster" Target="/ppt/slideMasters/slideMaster1.xml" Id="Rede7ae29adee4181" /><Relationship Type="http://schemas.openxmlformats.org/officeDocument/2006/relationships/notesMaster" Target="/ppt/notesMasters/notesMaster1.xml" Id="R17b524b590274a9b" /><Relationship Type="http://schemas.openxmlformats.org/officeDocument/2006/relationships/presProps" Target="/ppt/presProps.xml" Id="R640af65c9204475a" /><Relationship Type="http://schemas.openxmlformats.org/officeDocument/2006/relationships/tableStyles" Target="/ppt/tableStyles.xml" Id="R6f86b8ccffc94e93" /><Relationship Type="http://schemas.openxmlformats.org/officeDocument/2006/relationships/slide" Target="/ppt/slides/slide1.xml" Id="R5a195635553248b6" /><Relationship Type="http://schemas.openxmlformats.org/officeDocument/2006/relationships/slide" Target="/ppt/slides/slide2.xml" Id="R544f6fe4a36d4cbb" /><Relationship Type="http://schemas.openxmlformats.org/officeDocument/2006/relationships/slide" Target="/ppt/slides/slide3.xml" Id="Recc7a218507f4c33" /><Relationship Type="http://schemas.openxmlformats.org/officeDocument/2006/relationships/slide" Target="/ppt/slides/slide4.xml" Id="Rfdbb82a4bdee4434" /><Relationship Type="http://schemas.openxmlformats.org/officeDocument/2006/relationships/slide" Target="/ppt/slides/slide5.xml" Id="R069f00a6d58143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0b6d3738349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e1e747f12c4e4d" /><Relationship Type="http://schemas.openxmlformats.org/officeDocument/2006/relationships/notesMaster" Target="/ppt/notesMasters/notesMaster1.xml" Id="R8a3311b1b52144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5c80169ef04aab" /><Relationship Type="http://schemas.openxmlformats.org/officeDocument/2006/relationships/notesMaster" Target="/ppt/notesMasters/notesMaster1.xml" Id="Rceb0c5d122a443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1c78c54f7f4bca" /><Relationship Type="http://schemas.openxmlformats.org/officeDocument/2006/relationships/notesMaster" Target="/ppt/notesMasters/notesMaster1.xml" Id="R6ea4ee888a394c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5d32e16bcf48ec" /><Relationship Type="http://schemas.openxmlformats.org/officeDocument/2006/relationships/notesMaster" Target="/ppt/notesMasters/notesMaster1.xml" Id="Rc57cbc5ebee44e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dbfbe26b0748b5" /><Relationship Type="http://schemas.openxmlformats.org/officeDocument/2006/relationships/notesMaster" Target="/ppt/notesMasters/notesMaster1.xml" Id="Rf0733c999f4b4c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介绍研究范围。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项目诊断卡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解释问题之间的层级。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section-introduction-v3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说明证据等级。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提醒当前限制。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project-readiness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收束并进入问答。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bc913930d4e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823aefb54e4bed" /><Relationship Type="http://schemas.openxmlformats.org/officeDocument/2006/relationships/slideLayout" Target="/ppt/slideLayouts/slideLayout1.xml" Id="Ra3e7b6133bc84d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e7b6133bc84d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d642aa22849a8" /><Relationship Type="http://schemas.openxmlformats.org/officeDocument/2006/relationships/notesSlide" Target="/ppt/notesSlides/notesSlide1.xml" Id="Rceca11e4f1454a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cacfbe9d243fe" /><Relationship Type="http://schemas.openxmlformats.org/officeDocument/2006/relationships/notesSlide" Target="/ppt/notesSlides/notesSlide2.xml" Id="Rcc86682abc6a44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82b43440a47bb" /><Relationship Type="http://schemas.openxmlformats.org/officeDocument/2006/relationships/notesSlide" Target="/ppt/notesSlides/notesSlide3.xml" Id="R4e3b3f8d8ddb42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87f4fcac44363" /><Relationship Type="http://schemas.openxmlformats.org/officeDocument/2006/relationships/notesSlide" Target="/ppt/notesSlides/notesSlide4.xml" Id="R3cdafdba6d0b45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fb92b5a594efb" /><Relationship Type="http://schemas.openxmlformats.org/officeDocument/2006/relationships/notesSlide" Target="/ppt/notesSlides/notesSlide5.xml" Id="R54e2218c574549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618FE-853F-4157-980A-8FC4A69C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746"/>
                </a:solidFill>
              </a:defRPr>
            </a:pPr>
            <a:r>
              <a:rPr sz="1350" b="1">
                <a:solidFill>
                  <a:srgbClr val="007746"/>
                </a:solidFill>
              </a:rPr>
              <a:t>COURSE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C791A-90BA-4FB8-8671-E514FEDD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981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392E"/>
                </a:solidFill>
              </a:defRPr>
            </a:pPr>
            <a:r>
              <a:rPr sz="4800" b="1">
                <a:solidFill>
                  <a:srgbClr val="00392E"/>
                </a:solidFill>
              </a:rPr>
              <a:t>数字平台中的知识协作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44F26-7793-431B-B5BC-B241AB16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7645A"/>
                </a:solidFill>
              </a:defRPr>
            </a:pPr>
            <a:r>
              <a:rPr sz="1950" b="0">
                <a:solidFill>
                  <a:srgbClr val="47645A"/>
                </a:solidFill>
              </a:rPr>
              <a:t>课程论文汇报</a:t>
            </a:r>
          </a:p>
          <a:p xmlns:a="http://schemas.openxmlformats.org/drawingml/2006/main">
            <a:pPr>
              <a:defRPr sz="1950" b="0">
                <a:solidFill>
                  <a:srgbClr val="47645A"/>
                </a:solidFill>
              </a:defRPr>
            </a:pPr>
            <a:r>
              <a:rPr sz="1950" b="0">
                <a:solidFill>
                  <a:srgbClr val="47645A"/>
                </a:solidFill>
              </a:rPr>
              <a:t>来源绑定到当前项目版本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469F2-285C-4E18-8CB8-C36AF97D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8079"/>
                </a:solidFill>
              </a:defRPr>
            </a:pPr>
            <a:r>
              <a:rPr sz="1350" b="0">
                <a:solidFill>
                  <a:srgbClr val="718079"/>
                </a:solidFill>
              </a:rPr>
              <a:t>课程教师与同学 · 15 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31AEA-7118-49DF-A611-BBD7A20E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079"/>
                </a:solidFill>
              </a:defRPr>
            </a:pPr>
            <a:r>
              <a:rPr sz="1050" b="0">
                <a:solidFill>
                  <a:srgbClr val="718079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9719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E81E6-EFDC-4D42-92AE-C94DDF2C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746"/>
                </a:solidFill>
              </a:defRPr>
            </a:pPr>
            <a:r>
              <a:rPr sz="1350" b="1">
                <a:solidFill>
                  <a:srgbClr val="007746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C065F-792A-481B-BCED-7E14150A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92E"/>
                </a:solidFill>
              </a:defRPr>
            </a:pPr>
            <a:r>
              <a:rPr sz="3300" b="1">
                <a:solidFill>
                  <a:srgbClr val="00392E"/>
                </a:solidFill>
              </a:rPr>
              <a:t>研究问题决定汇报主线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AAF1D-16EA-4E5E-8AFF-878C3A13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CF834-403E-434C-BBAB-F2729E58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933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E32"/>
                </a:solidFill>
              </a:defRPr>
            </a:pPr>
            <a:r>
              <a:rPr sz="2400" b="0">
                <a:solidFill>
                  <a:srgbClr val="183E32"/>
                </a:solidFill>
              </a:rPr>
              <a:t>• 平台规则如何影响协作行为</a:t>
            </a:r>
          </a:p>
          <a:p xmlns:a="http://schemas.openxmlformats.org/drawingml/2006/main">
            <a:pPr>
              <a:defRPr sz="2400" b="0">
                <a:solidFill>
                  <a:srgbClr val="183E32"/>
                </a:solidFill>
              </a:defRPr>
            </a:pPr>
            <a:r>
              <a:rPr sz="2400" b="0">
                <a:solidFill>
                  <a:srgbClr val="183E32"/>
                </a:solidFill>
              </a:rPr>
              <a:t>• 协作行为如何形成知识结果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8D4AD-0CF5-426B-84A5-6D9A08B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15249-EA03-48C3-8B69-95E8067C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543A"/>
                </a:solidFill>
              </a:defRPr>
            </a:pPr>
            <a:r>
              <a:rPr sz="1875" b="1">
                <a:solidFill>
                  <a:srgbClr val="14543A"/>
                </a:solidFill>
              </a:rPr>
              <a:t>先明确关系，再解释机制。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E8524-B3D5-400B-9A2A-CC24F916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079"/>
                </a:solidFill>
              </a:defRPr>
            </a:pPr>
            <a:r>
              <a:rPr sz="1050" b="0">
                <a:solidFill>
                  <a:srgbClr val="718079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1715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5D376-B2CD-45BE-823D-E045100C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746"/>
                </a:solidFill>
              </a:defRPr>
            </a:pPr>
            <a:r>
              <a:rPr sz="1350" b="1">
                <a:solidFill>
                  <a:srgbClr val="007746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D08BA-ED95-4DCB-8C86-7386F8A6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92E"/>
                </a:solidFill>
              </a:defRPr>
            </a:pPr>
            <a:r>
              <a:rPr sz="3300" b="1">
                <a:solidFill>
                  <a:srgbClr val="00392E"/>
                </a:solidFill>
              </a:rPr>
              <a:t>证据强度决定表达边界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72BB2-509B-406B-9F2C-EA0231FB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69EB1-183E-4DED-9B89-B091D77D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933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E32"/>
                </a:solidFill>
              </a:defRPr>
            </a:pPr>
            <a:r>
              <a:rPr sz="2400" b="0">
                <a:solidFill>
                  <a:srgbClr val="183E32"/>
                </a:solidFill>
              </a:rPr>
              <a:t>• 可核验材料支持直接判断</a:t>
            </a:r>
          </a:p>
          <a:p xmlns:a="http://schemas.openxmlformats.org/drawingml/2006/main">
            <a:pPr>
              <a:defRPr sz="2400" b="0">
                <a:solidFill>
                  <a:srgbClr val="183E32"/>
                </a:solidFill>
              </a:defRPr>
            </a:pPr>
            <a:r>
              <a:rPr sz="2400" b="0">
                <a:solidFill>
                  <a:srgbClr val="183E32"/>
                </a:solidFill>
              </a:rPr>
              <a:t>• 缺失信息保留为待确认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89F4D-46CD-45DF-A2C2-2DF40490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5F11E-C4D4-49B6-87A7-64199A4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543A"/>
                </a:solidFill>
              </a:defRPr>
            </a:pPr>
            <a:r>
              <a:rPr sz="1875" b="1">
                <a:solidFill>
                  <a:srgbClr val="14543A"/>
                </a:solidFill>
              </a:rPr>
              <a:t>不把多数意见当作事实。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8240B-F67C-4867-A04A-D473DA69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079"/>
                </a:solidFill>
              </a:defRPr>
            </a:pPr>
            <a:r>
              <a:rPr sz="1050" b="0">
                <a:solidFill>
                  <a:srgbClr val="71807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23729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C378D-C280-4351-B302-41AC67CE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746"/>
                </a:solidFill>
              </a:defRPr>
            </a:pPr>
            <a:r>
              <a:rPr sz="1350" b="1">
                <a:solidFill>
                  <a:srgbClr val="007746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CC71F-C400-4023-848D-B70A92DD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92E"/>
                </a:solidFill>
              </a:defRPr>
            </a:pPr>
            <a:r>
              <a:rPr sz="3300" b="1">
                <a:solidFill>
                  <a:srgbClr val="00392E"/>
                </a:solidFill>
              </a:rPr>
              <a:t>没有真实结果时只展示分析计划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1C738-FAAB-4ECD-98DE-4C589599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19A60-35FC-40F4-8476-6C0CBC47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933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E32"/>
                </a:solidFill>
              </a:defRPr>
            </a:pPr>
            <a:r>
              <a:rPr sz="2400" b="0">
                <a:solidFill>
                  <a:srgbClr val="183E32"/>
                </a:solidFill>
              </a:rPr>
              <a:t>• 样本与方法仍需确认</a:t>
            </a:r>
          </a:p>
          <a:p xmlns:a="http://schemas.openxmlformats.org/drawingml/2006/main">
            <a:pPr>
              <a:defRPr sz="2400" b="0">
                <a:solidFill>
                  <a:srgbClr val="183E32"/>
                </a:solidFill>
              </a:defRPr>
            </a:pPr>
            <a:r>
              <a:rPr sz="2400" b="0">
                <a:solidFill>
                  <a:srgbClr val="183E32"/>
                </a:solidFill>
              </a:rPr>
              <a:t>• 预期结果必须明确标注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604EC-9A87-49B3-85FA-11BE8BA8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BF66B-A4EC-4CAD-A4CC-7479E06A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543A"/>
                </a:solidFill>
              </a:defRPr>
            </a:pPr>
            <a:r>
              <a:rPr sz="1875" b="1">
                <a:solidFill>
                  <a:srgbClr val="14543A"/>
                </a:solidFill>
              </a:rPr>
              <a:t>不生成虚构数据。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FF243-0FED-40DA-95A8-FE359D86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079"/>
                </a:solidFill>
              </a:defRPr>
            </a:pPr>
            <a:r>
              <a:rPr sz="1050" b="0">
                <a:solidFill>
                  <a:srgbClr val="71807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70251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E6EE6-68F3-4E6B-9B95-4F65A125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746"/>
                </a:solidFill>
              </a:defRPr>
            </a:pPr>
            <a:r>
              <a:rPr sz="1350" b="1">
                <a:solidFill>
                  <a:srgbClr val="007746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68ADE-AF47-4B99-9F53-3B8FBDE3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92E"/>
                </a:solidFill>
              </a:defRPr>
            </a:pPr>
            <a:r>
              <a:rPr sz="3300" b="1">
                <a:solidFill>
                  <a:srgbClr val="00392E"/>
                </a:solidFill>
              </a:rPr>
              <a:t>下一步是补齐材料并验证关键关系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F5F27-827C-4E69-808B-FB0C2F99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8C5F9-C4F1-4A69-9D99-496A4591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933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E32"/>
                </a:solidFill>
              </a:defRPr>
            </a:pPr>
            <a:r>
              <a:rPr sz="2400" b="0">
                <a:solidFill>
                  <a:srgbClr val="183E32"/>
                </a:solidFill>
              </a:rPr>
              <a:t>• 确认数据来源</a:t>
            </a:r>
          </a:p>
          <a:p xmlns:a="http://schemas.openxmlformats.org/drawingml/2006/main">
            <a:pPr>
              <a:defRPr sz="2400" b="0">
                <a:solidFill>
                  <a:srgbClr val="183E32"/>
                </a:solidFill>
              </a:defRPr>
            </a:pPr>
            <a:r>
              <a:rPr sz="2400" b="0">
                <a:solidFill>
                  <a:srgbClr val="183E32"/>
                </a:solidFill>
              </a:rPr>
              <a:t>• 运行分析</a:t>
            </a:r>
          </a:p>
          <a:p xmlns:a="http://schemas.openxmlformats.org/drawingml/2006/main">
            <a:pPr>
              <a:defRPr sz="2400" b="0">
                <a:solidFill>
                  <a:srgbClr val="183E32"/>
                </a:solidFill>
              </a:defRPr>
            </a:pPr>
            <a:r>
              <a:rPr sz="2400" b="0">
                <a:solidFill>
                  <a:srgbClr val="183E32"/>
                </a:solidFill>
              </a:rPr>
              <a:t>• 回填证据绑定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9F3C1-88E1-4781-8421-70EFAEF4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A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5B753-A984-4EDF-8AF6-92F50762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543A"/>
                </a:solidFill>
              </a:defRPr>
            </a:pPr>
            <a:r>
              <a:rPr sz="1875" b="1">
                <a:solidFill>
                  <a:srgbClr val="14543A"/>
                </a:solidFill>
              </a:rPr>
              <a:t>让下一步可执行。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0DE27-2C59-41E2-A969-540DF6F3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079"/>
                </a:solidFill>
              </a:defRPr>
            </a:pPr>
            <a:r>
              <a:rPr sz="1050" b="0">
                <a:solidFill>
                  <a:srgbClr val="718079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84259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2026-07-30T03:10:25.9150000Z</dcterms:created>
  <dcterms:modified xsi:type="dcterms:W3CDTF">2026-07-30T03:10:25.9150000Z</dcterms:modified>
</coreProperties>
</file>